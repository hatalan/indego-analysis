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B0D8"/>
    <a:srgbClr val="475569"/>
    <a:srgbClr val="21C55D"/>
    <a:srgbClr val="4A7CF5"/>
    <a:srgbClr val="1E3A8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651"/>
  </p:normalViewPr>
  <p:slideViewPr>
    <p:cSldViewPr snapToGrid="0" snapToObjects="1">
      <p:cViewPr>
        <p:scale>
          <a:sx n="114" d="100"/>
          <a:sy n="114" d="100"/>
        </p:scale>
        <p:origin x="304"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3C627-50EB-3A4C-9CA9-AFFCACF72B5E}"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7DE48-2BF7-1C45-8A58-933C8E297031}" type="slidenum">
              <a:rPr lang="en-US" smtClean="0"/>
              <a:t>‹#›</a:t>
            </a:fld>
            <a:endParaRPr lang="en-US"/>
          </a:p>
        </p:txBody>
      </p:sp>
    </p:spTree>
    <p:extLst>
      <p:ext uri="{BB962C8B-B14F-4D97-AF65-F5344CB8AC3E}">
        <p14:creationId xmlns:p14="http://schemas.microsoft.com/office/powerpoint/2010/main" val="2664612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a:extLst>
              <a:ext uri="{FF2B5EF4-FFF2-40B4-BE49-F238E27FC236}">
                <a16:creationId xmlns:a16="http://schemas.microsoft.com/office/drawing/2014/main" id="{A1D28F34-87F0-7A06-3809-EFBAF86910C1}"/>
              </a:ext>
            </a:extLst>
          </p:cNvPr>
          <p:cNvSpPr/>
          <p:nvPr/>
        </p:nvSpPr>
        <p:spPr>
          <a:xfrm>
            <a:off x="0" y="6472404"/>
            <a:ext cx="12191695" cy="38559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050375"/>
            <a:ext cx="10972800" cy="691100"/>
          </a:xfrm>
          <a:prstGeom prst="rect">
            <a:avLst/>
          </a:prstGeom>
          <a:noFill/>
        </p:spPr>
        <p:txBody>
          <a:bodyPr wrap="square"/>
          <a:lstStyle/>
          <a:p>
            <a:pPr algn="l">
              <a:spcBef>
                <a:spcPts val="0"/>
              </a:spcBef>
              <a:spcAft>
                <a:spcPts val="0"/>
              </a:spcAft>
            </a:pPr>
            <a:r>
              <a:rPr lang="en-US" sz="1300" dirty="0">
                <a:solidFill>
                  <a:srgbClr val="475569"/>
                </a:solidFill>
                <a:latin typeface=""/>
              </a:rPr>
              <a:t>T</a:t>
            </a:r>
            <a:r>
              <a:rPr sz="1300" b="0" dirty="0">
                <a:solidFill>
                  <a:srgbClr val="475569"/>
                </a:solidFill>
                <a:latin typeface=""/>
              </a:rPr>
              <a:t>otal trip duration (</a:t>
            </a:r>
            <a:r>
              <a:rPr lang="en-US" sz="1300" dirty="0">
                <a:solidFill>
                  <a:srgbClr val="475569"/>
                </a:solidFill>
                <a:latin typeface=""/>
              </a:rPr>
              <a:t>as a revenue proxy</a:t>
            </a:r>
            <a:r>
              <a:rPr sz="1300" b="0" dirty="0">
                <a:solidFill>
                  <a:srgbClr val="475569"/>
                </a:solidFill>
                <a:latin typeface=""/>
              </a:rPr>
              <a:t>)</a:t>
            </a:r>
            <a:r>
              <a:rPr lang="en-US" sz="1300" b="0" dirty="0">
                <a:solidFill>
                  <a:srgbClr val="475569"/>
                </a:solidFill>
                <a:latin typeface=""/>
              </a:rPr>
              <a:t> and trip count are used as main measures of growth. Overall, they are quite closely linked. However, during the post-COVID period, trip count grew at a higher rate than trip duration. Possible reasons for this decrease in average trip duration could be the introduction of e-bikes</a:t>
            </a:r>
            <a:r>
              <a:rPr lang="en-US" sz="1300" b="0" baseline="30000" dirty="0">
                <a:solidFill>
                  <a:srgbClr val="475569"/>
                </a:solidFill>
                <a:latin typeface=""/>
              </a:rPr>
              <a:t>1</a:t>
            </a:r>
            <a:r>
              <a:rPr lang="en-US" sz="1300" b="0" dirty="0">
                <a:solidFill>
                  <a:srgbClr val="475569"/>
                </a:solidFill>
                <a:latin typeface=""/>
              </a:rPr>
              <a:t> to the program or a change in consumer taste. Average trip duration displays minor seasonality. </a:t>
            </a:r>
            <a:endParaRPr sz="1300" b="0" dirty="0">
              <a:solidFill>
                <a:srgbClr val="475569"/>
              </a:solidFill>
              <a:latin typeface=""/>
            </a:endParaRPr>
          </a:p>
        </p:txBody>
      </p:sp>
      <p:grpSp>
        <p:nvGrpSpPr>
          <p:cNvPr id="50" name="Group 49">
            <a:extLst>
              <a:ext uri="{FF2B5EF4-FFF2-40B4-BE49-F238E27FC236}">
                <a16:creationId xmlns:a16="http://schemas.microsoft.com/office/drawing/2014/main" id="{CEFA4269-C93B-44C8-258D-C4D28A370567}"/>
              </a:ext>
            </a:extLst>
          </p:cNvPr>
          <p:cNvGrpSpPr/>
          <p:nvPr/>
        </p:nvGrpSpPr>
        <p:grpSpPr>
          <a:xfrm>
            <a:off x="640080" y="1828800"/>
            <a:ext cx="3200400" cy="1005840"/>
            <a:chOff x="640080" y="1828800"/>
            <a:chExt cx="3200400" cy="1005840"/>
          </a:xfrm>
        </p:grpSpPr>
        <p:sp>
          <p:nvSpPr>
            <p:cNvPr id="7" name="Rectangle 6"/>
            <p:cNvSpPr/>
            <p:nvPr/>
          </p:nvSpPr>
          <p:spPr>
            <a:xfrm>
              <a:off x="640080" y="1828800"/>
              <a:ext cx="3200400" cy="1005840"/>
            </a:xfrm>
            <a:prstGeom prst="rect">
              <a:avLst/>
            </a:prstGeom>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8" name="Rectangle 7"/>
            <p:cNvSpPr/>
            <p:nvPr/>
          </p:nvSpPr>
          <p:spPr>
            <a:xfrm>
              <a:off x="640080" y="1828800"/>
              <a:ext cx="45720" cy="1005840"/>
            </a:xfrm>
            <a:prstGeom prst="rect">
              <a:avLst/>
            </a:prstGeom>
            <a:solidFill>
              <a:srgbClr val="1E3A8A"/>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dirty="0"/>
            </a:p>
          </p:txBody>
        </p:sp>
        <p:sp>
          <p:nvSpPr>
            <p:cNvPr id="9" name="TextBox 8"/>
            <p:cNvSpPr txBox="1"/>
            <p:nvPr/>
          </p:nvSpPr>
          <p:spPr>
            <a:xfrm>
              <a:off x="822959" y="1965960"/>
              <a:ext cx="2880360" cy="502920"/>
            </a:xfrm>
            <a:prstGeom prst="rect">
              <a:avLst/>
            </a:prstGeom>
            <a:noFill/>
          </p:spPr>
          <p:txBody>
            <a:bodyPr wrap="square"/>
            <a:lstStyle/>
            <a:p>
              <a:pPr algn="l">
                <a:spcBef>
                  <a:spcPts val="0"/>
                </a:spcBef>
                <a:spcAft>
                  <a:spcPts val="0"/>
                </a:spcAft>
              </a:pPr>
              <a:r>
                <a:rPr lang="en-US" sz="2800" b="1" dirty="0">
                  <a:solidFill>
                    <a:srgbClr val="1E3A8A"/>
                  </a:solidFill>
                  <a:latin typeface=""/>
                </a:rPr>
                <a:t>6.8</a:t>
              </a:r>
              <a:r>
                <a:rPr sz="2800" b="1" dirty="0">
                  <a:solidFill>
                    <a:srgbClr val="1E3A8A"/>
                  </a:solidFill>
                  <a:latin typeface=""/>
                </a:rPr>
                <a:t>%</a:t>
              </a:r>
            </a:p>
          </p:txBody>
        </p:sp>
        <p:sp>
          <p:nvSpPr>
            <p:cNvPr id="10" name="TextBox 9"/>
            <p:cNvSpPr txBox="1"/>
            <p:nvPr/>
          </p:nvSpPr>
          <p:spPr>
            <a:xfrm>
              <a:off x="777238" y="2468880"/>
              <a:ext cx="3017521" cy="320040"/>
            </a:xfrm>
            <a:prstGeom prst="rect">
              <a:avLst/>
            </a:prstGeom>
            <a:noFill/>
          </p:spPr>
          <p:txBody>
            <a:bodyPr wrap="square"/>
            <a:lstStyle/>
            <a:p>
              <a:pPr algn="l">
                <a:spcBef>
                  <a:spcPts val="0"/>
                </a:spcBef>
                <a:spcAft>
                  <a:spcPts val="0"/>
                </a:spcAft>
              </a:pPr>
              <a:r>
                <a:rPr lang="en-US" sz="1100" dirty="0">
                  <a:solidFill>
                    <a:srgbClr val="475569"/>
                  </a:solidFill>
                  <a:latin typeface=""/>
                </a:rPr>
                <a:t>Trip Duration YoY Growth</a:t>
              </a:r>
              <a:r>
                <a:rPr sz="1100" b="0" dirty="0">
                  <a:solidFill>
                    <a:srgbClr val="475569"/>
                  </a:solidFill>
                  <a:latin typeface=""/>
                </a:rPr>
                <a:t> (</a:t>
              </a:r>
              <a:r>
                <a:rPr lang="en-US" sz="1100" dirty="0">
                  <a:solidFill>
                    <a:srgbClr val="475569"/>
                  </a:solidFill>
                  <a:latin typeface=""/>
                </a:rPr>
                <a:t>Q42024</a:t>
              </a:r>
              <a:r>
                <a:rPr sz="1100" b="0" dirty="0">
                  <a:solidFill>
                    <a:srgbClr val="475569"/>
                  </a:solidFill>
                  <a:latin typeface=""/>
                </a:rPr>
                <a:t>–</a:t>
              </a:r>
              <a:r>
                <a:rPr lang="en-US" sz="1100" b="0" dirty="0">
                  <a:solidFill>
                    <a:srgbClr val="475569"/>
                  </a:solidFill>
                  <a:latin typeface=""/>
                </a:rPr>
                <a:t>Q4</a:t>
              </a:r>
              <a:r>
                <a:rPr sz="1100" b="0" dirty="0">
                  <a:solidFill>
                    <a:srgbClr val="475569"/>
                  </a:solidFill>
                  <a:latin typeface=""/>
                </a:rPr>
                <a:t>2025)</a:t>
              </a:r>
            </a:p>
          </p:txBody>
        </p:sp>
      </p:grpSp>
      <p:grpSp>
        <p:nvGrpSpPr>
          <p:cNvPr id="49" name="Group 48">
            <a:extLst>
              <a:ext uri="{FF2B5EF4-FFF2-40B4-BE49-F238E27FC236}">
                <a16:creationId xmlns:a16="http://schemas.microsoft.com/office/drawing/2014/main" id="{0A4AE0E6-33B4-8B3D-2B87-68EFFA2FF037}"/>
              </a:ext>
            </a:extLst>
          </p:cNvPr>
          <p:cNvGrpSpPr/>
          <p:nvPr/>
        </p:nvGrpSpPr>
        <p:grpSpPr>
          <a:xfrm>
            <a:off x="4389120" y="1828800"/>
            <a:ext cx="3200400" cy="1005840"/>
            <a:chOff x="4251960" y="1828800"/>
            <a:chExt cx="3200400" cy="1005840"/>
          </a:xfrm>
        </p:grpSpPr>
        <p:sp>
          <p:nvSpPr>
            <p:cNvPr id="11" name="Rectangle 10"/>
            <p:cNvSpPr/>
            <p:nvPr/>
          </p:nvSpPr>
          <p:spPr>
            <a:xfrm>
              <a:off x="4251960" y="1828800"/>
              <a:ext cx="3200400" cy="1005840"/>
            </a:xfrm>
            <a:prstGeom prst="rect">
              <a:avLst/>
            </a:prstGeom>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12" name="Rectangle 11"/>
            <p:cNvSpPr/>
            <p:nvPr/>
          </p:nvSpPr>
          <p:spPr>
            <a:xfrm>
              <a:off x="4251960" y="1828800"/>
              <a:ext cx="45720" cy="1005840"/>
            </a:xfrm>
            <a:prstGeom prst="rect">
              <a:avLst/>
            </a:prstGeom>
            <a:solidFill>
              <a:srgbClr val="4A7CF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dirty="0"/>
            </a:p>
          </p:txBody>
        </p:sp>
        <p:sp>
          <p:nvSpPr>
            <p:cNvPr id="13" name="TextBox 12"/>
            <p:cNvSpPr txBox="1"/>
            <p:nvPr/>
          </p:nvSpPr>
          <p:spPr>
            <a:xfrm>
              <a:off x="4434840" y="1965960"/>
              <a:ext cx="2880360" cy="502920"/>
            </a:xfrm>
            <a:prstGeom prst="rect">
              <a:avLst/>
            </a:prstGeom>
            <a:noFill/>
          </p:spPr>
          <p:txBody>
            <a:bodyPr wrap="square"/>
            <a:lstStyle/>
            <a:p>
              <a:pPr algn="l">
                <a:spcBef>
                  <a:spcPts val="0"/>
                </a:spcBef>
                <a:spcAft>
                  <a:spcPts val="0"/>
                </a:spcAft>
              </a:pPr>
              <a:r>
                <a:rPr lang="en-US" sz="2800" b="1" dirty="0">
                  <a:solidFill>
                    <a:srgbClr val="4A7CF5"/>
                  </a:solidFill>
                  <a:latin typeface=""/>
                </a:rPr>
                <a:t>8</a:t>
              </a:r>
              <a:r>
                <a:rPr sz="2800" b="1" dirty="0">
                  <a:solidFill>
                    <a:srgbClr val="4A7CF5"/>
                  </a:solidFill>
                  <a:latin typeface=""/>
                </a:rPr>
                <a:t>.</a:t>
              </a:r>
              <a:r>
                <a:rPr lang="en-US" sz="2800" b="1" dirty="0">
                  <a:solidFill>
                    <a:srgbClr val="4A7CF5"/>
                  </a:solidFill>
                  <a:latin typeface=""/>
                </a:rPr>
                <a:t>8</a:t>
              </a:r>
              <a:r>
                <a:rPr sz="2800" b="1" dirty="0">
                  <a:solidFill>
                    <a:srgbClr val="4A7CF5"/>
                  </a:solidFill>
                  <a:latin typeface=""/>
                </a:rPr>
                <a:t>%</a:t>
              </a:r>
            </a:p>
          </p:txBody>
        </p:sp>
      </p:grpSp>
      <p:grpSp>
        <p:nvGrpSpPr>
          <p:cNvPr id="48" name="Group 47">
            <a:extLst>
              <a:ext uri="{FF2B5EF4-FFF2-40B4-BE49-F238E27FC236}">
                <a16:creationId xmlns:a16="http://schemas.microsoft.com/office/drawing/2014/main" id="{E7CB2055-0B30-86F5-B727-40CA80500CAD}"/>
              </a:ext>
            </a:extLst>
          </p:cNvPr>
          <p:cNvGrpSpPr/>
          <p:nvPr/>
        </p:nvGrpSpPr>
        <p:grpSpPr>
          <a:xfrm>
            <a:off x="8138160" y="1828800"/>
            <a:ext cx="3200400" cy="1005840"/>
            <a:chOff x="7863840" y="1828800"/>
            <a:chExt cx="3200400" cy="1005840"/>
          </a:xfrm>
        </p:grpSpPr>
        <p:sp>
          <p:nvSpPr>
            <p:cNvPr id="15" name="Rectangle 14"/>
            <p:cNvSpPr/>
            <p:nvPr/>
          </p:nvSpPr>
          <p:spPr>
            <a:xfrm>
              <a:off x="7863840" y="1828800"/>
              <a:ext cx="3200400" cy="1005840"/>
            </a:xfrm>
            <a:prstGeom prst="rect">
              <a:avLst/>
            </a:prstGeom>
            <a:ln>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16" name="Rectangle 15"/>
            <p:cNvSpPr/>
            <p:nvPr/>
          </p:nvSpPr>
          <p:spPr>
            <a:xfrm>
              <a:off x="7863840" y="1828800"/>
              <a:ext cx="45720" cy="1005840"/>
            </a:xfrm>
            <a:prstGeom prst="rect">
              <a:avLst/>
            </a:prstGeom>
            <a:solidFill>
              <a:srgbClr val="21C55D"/>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dirty="0"/>
            </a:p>
          </p:txBody>
        </p:sp>
        <p:sp>
          <p:nvSpPr>
            <p:cNvPr id="17" name="TextBox 16"/>
            <p:cNvSpPr txBox="1"/>
            <p:nvPr/>
          </p:nvSpPr>
          <p:spPr>
            <a:xfrm>
              <a:off x="8046719" y="1965960"/>
              <a:ext cx="2880360" cy="502920"/>
            </a:xfrm>
            <a:prstGeom prst="rect">
              <a:avLst/>
            </a:prstGeom>
            <a:noFill/>
          </p:spPr>
          <p:txBody>
            <a:bodyPr wrap="square"/>
            <a:lstStyle/>
            <a:p>
              <a:pPr algn="l">
                <a:spcBef>
                  <a:spcPts val="0"/>
                </a:spcBef>
                <a:spcAft>
                  <a:spcPts val="0"/>
                </a:spcAft>
              </a:pPr>
              <a:r>
                <a:rPr lang="en-US" sz="2800" b="1" dirty="0">
                  <a:solidFill>
                    <a:srgbClr val="22C55E"/>
                  </a:solidFill>
                  <a:latin typeface=""/>
                </a:rPr>
                <a:t>14</a:t>
              </a:r>
              <a:r>
                <a:rPr sz="2800" b="1" dirty="0">
                  <a:solidFill>
                    <a:srgbClr val="22C55E"/>
                  </a:solidFill>
                  <a:latin typeface=""/>
                </a:rPr>
                <a:t>.</a:t>
              </a:r>
              <a:r>
                <a:rPr lang="en-US" sz="2800" b="1" dirty="0">
                  <a:solidFill>
                    <a:srgbClr val="22C55E"/>
                  </a:solidFill>
                  <a:latin typeface=""/>
                </a:rPr>
                <a:t>8 min</a:t>
              </a:r>
              <a:endParaRPr sz="2800" b="1" dirty="0">
                <a:solidFill>
                  <a:srgbClr val="22C55E"/>
                </a:solidFill>
                <a:latin typeface=""/>
              </a:endParaRPr>
            </a:p>
          </p:txBody>
        </p:sp>
      </p:grpSp>
      <p:sp>
        <p:nvSpPr>
          <p:cNvPr id="44" name="Rectangle 43">
            <a:extLst>
              <a:ext uri="{FF2B5EF4-FFF2-40B4-BE49-F238E27FC236}">
                <a16:creationId xmlns:a16="http://schemas.microsoft.com/office/drawing/2014/main" id="{7635AABA-92D3-0D35-EE5E-F9BD31DCED7E}"/>
              </a:ext>
            </a:extLst>
          </p:cNvPr>
          <p:cNvSpPr/>
          <p:nvPr/>
        </p:nvSpPr>
        <p:spPr>
          <a:xfrm>
            <a:off x="-1" y="87506"/>
            <a:ext cx="12192001" cy="886968"/>
          </a:xfrm>
          <a:prstGeom prst="rect">
            <a:avLst/>
          </a:prstGeom>
          <a:solidFill>
            <a:srgbClr val="1E3A8A"/>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45" name="TextBox 44">
            <a:extLst>
              <a:ext uri="{FF2B5EF4-FFF2-40B4-BE49-F238E27FC236}">
                <a16:creationId xmlns:a16="http://schemas.microsoft.com/office/drawing/2014/main" id="{31527A71-604B-F098-6F9B-36BB52EC2601}"/>
              </a:ext>
            </a:extLst>
          </p:cNvPr>
          <p:cNvSpPr txBox="1"/>
          <p:nvPr/>
        </p:nvSpPr>
        <p:spPr>
          <a:xfrm>
            <a:off x="609447" y="279530"/>
            <a:ext cx="10972800" cy="502920"/>
          </a:xfrm>
          <a:prstGeom prst="rect">
            <a:avLst/>
          </a:prstGeom>
          <a:noFill/>
        </p:spPr>
        <p:txBody>
          <a:bodyPr wrap="square"/>
          <a:lstStyle/>
          <a:p>
            <a:pPr>
              <a:spcBef>
                <a:spcPts val="0"/>
              </a:spcBef>
              <a:spcAft>
                <a:spcPts val="0"/>
              </a:spcAft>
            </a:pPr>
            <a:r>
              <a:rPr lang="en-US" sz="2400" b="1" dirty="0">
                <a:solidFill>
                  <a:srgbClr val="FFFFFF"/>
                </a:solidFill>
                <a:latin typeface=""/>
              </a:rPr>
              <a:t>How Should Indego Quantify Growth</a:t>
            </a:r>
            <a:r>
              <a:rPr sz="2400" b="1" dirty="0">
                <a:solidFill>
                  <a:srgbClr val="FFFFFF"/>
                </a:solidFill>
                <a:latin typeface=""/>
              </a:rPr>
              <a:t>?</a:t>
            </a:r>
          </a:p>
        </p:txBody>
      </p:sp>
      <p:sp>
        <p:nvSpPr>
          <p:cNvPr id="63" name="TextBox 62">
            <a:extLst>
              <a:ext uri="{FF2B5EF4-FFF2-40B4-BE49-F238E27FC236}">
                <a16:creationId xmlns:a16="http://schemas.microsoft.com/office/drawing/2014/main" id="{8CFA3546-47C9-84EE-81CB-6CCE7653EFB3}"/>
              </a:ext>
            </a:extLst>
          </p:cNvPr>
          <p:cNvSpPr txBox="1"/>
          <p:nvPr/>
        </p:nvSpPr>
        <p:spPr>
          <a:xfrm>
            <a:off x="4507991" y="2450036"/>
            <a:ext cx="3017521" cy="320040"/>
          </a:xfrm>
          <a:prstGeom prst="rect">
            <a:avLst/>
          </a:prstGeom>
          <a:noFill/>
        </p:spPr>
        <p:txBody>
          <a:bodyPr wrap="square"/>
          <a:lstStyle/>
          <a:p>
            <a:pPr algn="l">
              <a:spcBef>
                <a:spcPts val="0"/>
              </a:spcBef>
              <a:spcAft>
                <a:spcPts val="0"/>
              </a:spcAft>
            </a:pPr>
            <a:r>
              <a:rPr lang="en-US" sz="1100" dirty="0">
                <a:solidFill>
                  <a:srgbClr val="475569"/>
                </a:solidFill>
                <a:latin typeface=""/>
              </a:rPr>
              <a:t>Trip Count YoY Growth</a:t>
            </a:r>
            <a:r>
              <a:rPr sz="1100" b="0" dirty="0">
                <a:solidFill>
                  <a:srgbClr val="475569"/>
                </a:solidFill>
                <a:latin typeface=""/>
              </a:rPr>
              <a:t> (</a:t>
            </a:r>
            <a:r>
              <a:rPr lang="en-US" sz="1100" dirty="0">
                <a:solidFill>
                  <a:srgbClr val="475569"/>
                </a:solidFill>
                <a:latin typeface=""/>
              </a:rPr>
              <a:t>Q42024</a:t>
            </a:r>
            <a:r>
              <a:rPr sz="1100" b="0" dirty="0">
                <a:solidFill>
                  <a:srgbClr val="475569"/>
                </a:solidFill>
                <a:latin typeface=""/>
              </a:rPr>
              <a:t>–</a:t>
            </a:r>
            <a:r>
              <a:rPr lang="en-US" sz="1100" b="0" dirty="0">
                <a:solidFill>
                  <a:srgbClr val="475569"/>
                </a:solidFill>
                <a:latin typeface=""/>
              </a:rPr>
              <a:t>Q4</a:t>
            </a:r>
            <a:r>
              <a:rPr sz="1100" b="0" dirty="0">
                <a:solidFill>
                  <a:srgbClr val="475569"/>
                </a:solidFill>
                <a:latin typeface=""/>
              </a:rPr>
              <a:t>2025)</a:t>
            </a:r>
          </a:p>
        </p:txBody>
      </p:sp>
      <p:sp>
        <p:nvSpPr>
          <p:cNvPr id="64" name="TextBox 63">
            <a:extLst>
              <a:ext uri="{FF2B5EF4-FFF2-40B4-BE49-F238E27FC236}">
                <a16:creationId xmlns:a16="http://schemas.microsoft.com/office/drawing/2014/main" id="{1E7A87E5-8014-34C5-EE30-B866EDA23435}"/>
              </a:ext>
            </a:extLst>
          </p:cNvPr>
          <p:cNvSpPr txBox="1"/>
          <p:nvPr/>
        </p:nvSpPr>
        <p:spPr>
          <a:xfrm>
            <a:off x="8229599" y="2450036"/>
            <a:ext cx="3017521" cy="320040"/>
          </a:xfrm>
          <a:prstGeom prst="rect">
            <a:avLst/>
          </a:prstGeom>
          <a:noFill/>
        </p:spPr>
        <p:txBody>
          <a:bodyPr wrap="square"/>
          <a:lstStyle/>
          <a:p>
            <a:pPr algn="l">
              <a:spcBef>
                <a:spcPts val="0"/>
              </a:spcBef>
              <a:spcAft>
                <a:spcPts val="0"/>
              </a:spcAft>
            </a:pPr>
            <a:r>
              <a:rPr lang="en-US" sz="1100" dirty="0">
                <a:solidFill>
                  <a:srgbClr val="475569"/>
                </a:solidFill>
                <a:latin typeface=""/>
              </a:rPr>
              <a:t> Average Trip Duration (Q4 2025)</a:t>
            </a:r>
            <a:endParaRPr sz="1100" b="0" dirty="0">
              <a:solidFill>
                <a:srgbClr val="475569"/>
              </a:solidFill>
              <a:latin typeface=""/>
            </a:endParaRPr>
          </a:p>
        </p:txBody>
      </p:sp>
      <p:pic>
        <p:nvPicPr>
          <p:cNvPr id="70" name="Picture 69" descr="A graph with blue lines and numbers&#10;&#10;AI-generated content may be incorrect.">
            <a:extLst>
              <a:ext uri="{FF2B5EF4-FFF2-40B4-BE49-F238E27FC236}">
                <a16:creationId xmlns:a16="http://schemas.microsoft.com/office/drawing/2014/main" id="{F1483A2B-3A90-F192-C154-5AEE13651D9F}"/>
              </a:ext>
            </a:extLst>
          </p:cNvPr>
          <p:cNvPicPr>
            <a:picLocks noChangeAspect="1"/>
          </p:cNvPicPr>
          <p:nvPr/>
        </p:nvPicPr>
        <p:blipFill>
          <a:blip r:embed="rId2"/>
          <a:stretch>
            <a:fillRect/>
          </a:stretch>
        </p:blipFill>
        <p:spPr>
          <a:xfrm>
            <a:off x="6309360" y="2974369"/>
            <a:ext cx="5029200" cy="3200400"/>
          </a:xfrm>
          <a:prstGeom prst="rect">
            <a:avLst/>
          </a:prstGeom>
          <a:ln w="19050">
            <a:solidFill>
              <a:schemeClr val="bg1">
                <a:lumMod val="95000"/>
              </a:schemeClr>
            </a:solidFill>
          </a:ln>
        </p:spPr>
      </p:pic>
      <p:sp>
        <p:nvSpPr>
          <p:cNvPr id="76" name="TextBox 75">
            <a:extLst>
              <a:ext uri="{FF2B5EF4-FFF2-40B4-BE49-F238E27FC236}">
                <a16:creationId xmlns:a16="http://schemas.microsoft.com/office/drawing/2014/main" id="{2FF39571-03DF-DBB6-9C78-439927CB62C5}"/>
              </a:ext>
            </a:extLst>
          </p:cNvPr>
          <p:cNvSpPr txBox="1"/>
          <p:nvPr/>
        </p:nvSpPr>
        <p:spPr>
          <a:xfrm>
            <a:off x="-28993" y="6658451"/>
            <a:ext cx="9986731" cy="199548"/>
          </a:xfrm>
          <a:prstGeom prst="rect">
            <a:avLst/>
          </a:prstGeom>
          <a:noFill/>
        </p:spPr>
        <p:txBody>
          <a:bodyPr wrap="square"/>
          <a:lstStyle/>
          <a:p>
            <a:pPr algn="l">
              <a:spcBef>
                <a:spcPts val="0"/>
              </a:spcBef>
              <a:spcAft>
                <a:spcPts val="0"/>
              </a:spcAft>
            </a:pPr>
            <a:r>
              <a:rPr lang="en-US" sz="850" b="0" baseline="30000" dirty="0">
                <a:solidFill>
                  <a:srgbClr val="64748B"/>
                </a:solidFill>
                <a:latin typeface=""/>
              </a:rPr>
              <a:t>1</a:t>
            </a:r>
            <a:r>
              <a:rPr lang="en-US" sz="850" dirty="0">
                <a:solidFill>
                  <a:srgbClr val="64748B"/>
                </a:solidFill>
                <a:latin typeface=""/>
              </a:rPr>
              <a:t>E-bikes were introduced in mid-late 2019.</a:t>
            </a:r>
          </a:p>
        </p:txBody>
      </p:sp>
      <p:pic>
        <p:nvPicPr>
          <p:cNvPr id="84" name="Picture 83" descr="A graph of a line graph&#10;&#10;AI-generated content may be incorrect.">
            <a:extLst>
              <a:ext uri="{FF2B5EF4-FFF2-40B4-BE49-F238E27FC236}">
                <a16:creationId xmlns:a16="http://schemas.microsoft.com/office/drawing/2014/main" id="{AAC9AAAD-CDFE-1134-941D-B6B7BD1DE3C9}"/>
              </a:ext>
            </a:extLst>
          </p:cNvPr>
          <p:cNvPicPr>
            <a:picLocks noChangeAspect="1"/>
          </p:cNvPicPr>
          <p:nvPr/>
        </p:nvPicPr>
        <p:blipFill>
          <a:blip r:embed="rId3"/>
          <a:stretch>
            <a:fillRect/>
          </a:stretch>
        </p:blipFill>
        <p:spPr>
          <a:xfrm>
            <a:off x="640080" y="2974369"/>
            <a:ext cx="5029200" cy="3200400"/>
          </a:xfrm>
          <a:prstGeom prst="rect">
            <a:avLst/>
          </a:prstGeom>
          <a:ln w="19050">
            <a:solidFill>
              <a:schemeClr val="bg1">
                <a:lumMod val="95000"/>
              </a:schemeClr>
            </a:solidFill>
          </a:ln>
        </p:spPr>
      </p:pic>
      <p:cxnSp>
        <p:nvCxnSpPr>
          <p:cNvPr id="4" name="Straight Connector 3">
            <a:extLst>
              <a:ext uri="{FF2B5EF4-FFF2-40B4-BE49-F238E27FC236}">
                <a16:creationId xmlns:a16="http://schemas.microsoft.com/office/drawing/2014/main" id="{38F98159-D779-2F2F-42E1-6A36DACC73E4}"/>
              </a:ext>
            </a:extLst>
          </p:cNvPr>
          <p:cNvCxnSpPr>
            <a:cxnSpLocks/>
          </p:cNvCxnSpPr>
          <p:nvPr/>
        </p:nvCxnSpPr>
        <p:spPr>
          <a:xfrm>
            <a:off x="2883981" y="3692066"/>
            <a:ext cx="0" cy="1765005"/>
          </a:xfrm>
          <a:prstGeom prst="line">
            <a:avLst/>
          </a:prstGeom>
          <a:ln w="12700">
            <a:solidFill>
              <a:srgbClr val="475569"/>
            </a:solidFill>
            <a:prstDash val="sysDash"/>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3E422F80-4A83-FF1E-A5EE-ACA191DE72FB}"/>
              </a:ext>
            </a:extLst>
          </p:cNvPr>
          <p:cNvCxnSpPr>
            <a:cxnSpLocks/>
          </p:cNvCxnSpPr>
          <p:nvPr/>
        </p:nvCxnSpPr>
        <p:spPr>
          <a:xfrm>
            <a:off x="8427087" y="3232299"/>
            <a:ext cx="0" cy="2224772"/>
          </a:xfrm>
          <a:prstGeom prst="line">
            <a:avLst/>
          </a:prstGeom>
          <a:ln w="12700">
            <a:solidFill>
              <a:srgbClr val="475569"/>
            </a:solidFill>
            <a:prstDash val="sysDash"/>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79866F40-2CD2-130B-AF92-7BE1D764E644}"/>
              </a:ext>
            </a:extLst>
          </p:cNvPr>
          <p:cNvSpPr txBox="1"/>
          <p:nvPr/>
        </p:nvSpPr>
        <p:spPr>
          <a:xfrm>
            <a:off x="7848568" y="3330333"/>
            <a:ext cx="786776" cy="200055"/>
          </a:xfrm>
          <a:prstGeom prst="rect">
            <a:avLst/>
          </a:prstGeom>
          <a:noFill/>
        </p:spPr>
        <p:txBody>
          <a:bodyPr wrap="square" rtlCol="0">
            <a:spAutoFit/>
          </a:bodyPr>
          <a:lstStyle/>
          <a:p>
            <a:r>
              <a:rPr lang="en-US" sz="700" i="1" dirty="0">
                <a:solidFill>
                  <a:srgbClr val="475569"/>
                </a:solidFill>
                <a:latin typeface=""/>
              </a:rPr>
              <a:t>COVID-19</a:t>
            </a:r>
            <a:endParaRPr lang="en-US" sz="900" i="1" dirty="0"/>
          </a:p>
        </p:txBody>
      </p:sp>
      <p:sp>
        <p:nvSpPr>
          <p:cNvPr id="25" name="TextBox 24">
            <a:extLst>
              <a:ext uri="{FF2B5EF4-FFF2-40B4-BE49-F238E27FC236}">
                <a16:creationId xmlns:a16="http://schemas.microsoft.com/office/drawing/2014/main" id="{BEF6E4FD-D7B3-7060-3FFA-EB0D585B62ED}"/>
              </a:ext>
            </a:extLst>
          </p:cNvPr>
          <p:cNvSpPr txBox="1"/>
          <p:nvPr/>
        </p:nvSpPr>
        <p:spPr>
          <a:xfrm>
            <a:off x="2335426" y="3768687"/>
            <a:ext cx="974966" cy="200055"/>
          </a:xfrm>
          <a:prstGeom prst="rect">
            <a:avLst/>
          </a:prstGeom>
          <a:noFill/>
        </p:spPr>
        <p:txBody>
          <a:bodyPr wrap="square" rtlCol="0">
            <a:spAutoFit/>
          </a:bodyPr>
          <a:lstStyle/>
          <a:p>
            <a:r>
              <a:rPr lang="en-US" sz="700" i="1" dirty="0">
                <a:solidFill>
                  <a:srgbClr val="475569"/>
                </a:solidFill>
                <a:latin typeface=""/>
              </a:rPr>
              <a:t>COVID-19</a:t>
            </a:r>
            <a:endParaRPr lang="en-US" sz="10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4700"/>
            <a:ext cx="12191695" cy="886968"/>
          </a:xfrm>
          <a:prstGeom prst="rect">
            <a:avLst/>
          </a:prstGeom>
          <a:solidFill>
            <a:srgbClr val="1E3A8A"/>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5" name="TextBox 4"/>
          <p:cNvSpPr txBox="1"/>
          <p:nvPr/>
        </p:nvSpPr>
        <p:spPr>
          <a:xfrm>
            <a:off x="609447" y="279530"/>
            <a:ext cx="10972800" cy="502920"/>
          </a:xfrm>
          <a:prstGeom prst="rect">
            <a:avLst/>
          </a:prstGeom>
          <a:noFill/>
        </p:spPr>
        <p:txBody>
          <a:bodyPr wrap="square"/>
          <a:lstStyle/>
          <a:p>
            <a:pPr>
              <a:spcBef>
                <a:spcPts val="0"/>
              </a:spcBef>
              <a:spcAft>
                <a:spcPts val="0"/>
              </a:spcAft>
            </a:pPr>
            <a:r>
              <a:rPr sz="2400" b="1" dirty="0">
                <a:solidFill>
                  <a:srgbClr val="FFFFFF"/>
                </a:solidFill>
                <a:latin typeface=""/>
              </a:rPr>
              <a:t>Is Indego Growing Too Fast or Too Slow?</a:t>
            </a:r>
          </a:p>
        </p:txBody>
      </p:sp>
      <p:sp>
        <p:nvSpPr>
          <p:cNvPr id="6" name="TextBox 5"/>
          <p:cNvSpPr txBox="1"/>
          <p:nvPr/>
        </p:nvSpPr>
        <p:spPr>
          <a:xfrm>
            <a:off x="609447" y="1071396"/>
            <a:ext cx="10972800" cy="514328"/>
          </a:xfrm>
          <a:prstGeom prst="rect">
            <a:avLst/>
          </a:prstGeom>
          <a:noFill/>
        </p:spPr>
        <p:txBody>
          <a:bodyPr wrap="square"/>
          <a:lstStyle/>
          <a:p>
            <a:pPr algn="l">
              <a:spcBef>
                <a:spcPts val="0"/>
              </a:spcBef>
              <a:spcAft>
                <a:spcPts val="0"/>
              </a:spcAft>
            </a:pPr>
            <a:r>
              <a:rPr sz="1300" b="0" dirty="0">
                <a:solidFill>
                  <a:srgbClr val="475569"/>
                </a:solidFill>
                <a:latin typeface=""/>
              </a:rPr>
              <a:t>Regional marginal </a:t>
            </a:r>
            <a:r>
              <a:rPr lang="en-US" sz="1300" b="0" dirty="0">
                <a:solidFill>
                  <a:srgbClr val="475569"/>
                </a:solidFill>
                <a:latin typeface=""/>
              </a:rPr>
              <a:t>revenue (in this case, duration) </a:t>
            </a:r>
            <a:r>
              <a:rPr sz="1300" b="0" dirty="0">
                <a:solidFill>
                  <a:srgbClr val="475569"/>
                </a:solidFill>
                <a:latin typeface=""/>
              </a:rPr>
              <a:t>analysis reveals</a:t>
            </a:r>
            <a:r>
              <a:rPr lang="en-US" sz="1300" b="0" dirty="0">
                <a:solidFill>
                  <a:srgbClr val="475569"/>
                </a:solidFill>
                <a:latin typeface=""/>
              </a:rPr>
              <a:t> the expected revenue of a new Indego statio</a:t>
            </a:r>
            <a:r>
              <a:rPr lang="en-US" sz="1300" dirty="0">
                <a:solidFill>
                  <a:srgbClr val="475569"/>
                </a:solidFill>
                <a:latin typeface=""/>
              </a:rPr>
              <a:t>n depends on where the next station is placed. Center City, even with its high station density, still maintains an edge over other areas of Philadelphia with respect to the marginal revenue of an additional station.</a:t>
            </a:r>
            <a:endParaRPr sz="1300" b="0" dirty="0">
              <a:solidFill>
                <a:srgbClr val="475569"/>
              </a:solidFill>
              <a:latin typeface=""/>
            </a:endParaRPr>
          </a:p>
        </p:txBody>
      </p:sp>
      <p:sp>
        <p:nvSpPr>
          <p:cNvPr id="46" name="Rectangle 45"/>
          <p:cNvSpPr/>
          <p:nvPr/>
        </p:nvSpPr>
        <p:spPr>
          <a:xfrm>
            <a:off x="7223760" y="1828799"/>
            <a:ext cx="4297680" cy="2324123"/>
          </a:xfrm>
          <a:prstGeom prst="rect">
            <a:avLst/>
          </a:prstGeom>
          <a:ln w="1905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47" name="Rectangle 46"/>
          <p:cNvSpPr/>
          <p:nvPr/>
        </p:nvSpPr>
        <p:spPr>
          <a:xfrm>
            <a:off x="7223760" y="1828800"/>
            <a:ext cx="54864" cy="2324122"/>
          </a:xfrm>
          <a:prstGeom prst="rect">
            <a:avLst/>
          </a:prstGeom>
          <a:solidFill>
            <a:srgbClr val="4A7CF5"/>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48" name="TextBox 47"/>
          <p:cNvSpPr txBox="1"/>
          <p:nvPr/>
        </p:nvSpPr>
        <p:spPr>
          <a:xfrm>
            <a:off x="7452360" y="1895714"/>
            <a:ext cx="3931920" cy="274320"/>
          </a:xfrm>
          <a:prstGeom prst="rect">
            <a:avLst/>
          </a:prstGeom>
          <a:noFill/>
        </p:spPr>
        <p:txBody>
          <a:bodyPr wrap="square"/>
          <a:lstStyle/>
          <a:p>
            <a:pPr algn="l">
              <a:spcBef>
                <a:spcPts val="0"/>
              </a:spcBef>
              <a:spcAft>
                <a:spcPts val="0"/>
              </a:spcAft>
            </a:pPr>
            <a:r>
              <a:rPr sz="1200" b="1" dirty="0">
                <a:solidFill>
                  <a:srgbClr val="4B7CF5"/>
                </a:solidFill>
                <a:latin typeface=""/>
              </a:rPr>
              <a:t>KEY FINDINGS</a:t>
            </a:r>
          </a:p>
        </p:txBody>
      </p:sp>
      <p:sp>
        <p:nvSpPr>
          <p:cNvPr id="49" name="TextBox 48"/>
          <p:cNvSpPr txBox="1"/>
          <p:nvPr/>
        </p:nvSpPr>
        <p:spPr>
          <a:xfrm>
            <a:off x="7543800" y="2161044"/>
            <a:ext cx="3749040" cy="1945578"/>
          </a:xfrm>
          <a:prstGeom prst="rect">
            <a:avLst/>
          </a:prstGeom>
          <a:noFill/>
        </p:spPr>
        <p:txBody>
          <a:bodyPr wrap="square"/>
          <a:lstStyle/>
          <a:p>
            <a:pPr marL="171450" indent="-171450" algn="l">
              <a:spcBef>
                <a:spcPts val="0"/>
              </a:spcBef>
              <a:spcAft>
                <a:spcPts val="0"/>
              </a:spcAft>
              <a:buFont typeface="Arial" panose="020B0604020202020204" pitchFamily="34" charset="0"/>
              <a:buChar char="•"/>
            </a:pPr>
            <a:r>
              <a:rPr sz="1200" b="0" dirty="0">
                <a:solidFill>
                  <a:srgbClr val="0F172A"/>
                </a:solidFill>
                <a:latin typeface=""/>
              </a:rPr>
              <a:t>Center City stations still generate the highest </a:t>
            </a:r>
            <a:r>
              <a:rPr lang="en-US" sz="1200" dirty="0">
                <a:solidFill>
                  <a:srgbClr val="0F172A"/>
                </a:solidFill>
                <a:latin typeface=""/>
              </a:rPr>
              <a:t>MR</a:t>
            </a:r>
            <a:r>
              <a:rPr lang="en-US" sz="1200" b="0" dirty="0">
                <a:solidFill>
                  <a:srgbClr val="0F172A"/>
                </a:solidFill>
                <a:latin typeface=""/>
              </a:rPr>
              <a:t>.</a:t>
            </a:r>
          </a:p>
          <a:p>
            <a:pPr algn="l">
              <a:spcBef>
                <a:spcPts val="0"/>
              </a:spcBef>
              <a:spcAft>
                <a:spcPts val="0"/>
              </a:spcAft>
            </a:pPr>
            <a:endParaRPr lang="en-US" sz="1200" dirty="0">
              <a:solidFill>
                <a:srgbClr val="0F172A"/>
              </a:solidFill>
              <a:latin typeface=""/>
            </a:endParaRPr>
          </a:p>
          <a:p>
            <a:pPr marL="171450" indent="-171450" algn="l">
              <a:spcBef>
                <a:spcPts val="0"/>
              </a:spcBef>
              <a:spcAft>
                <a:spcPts val="0"/>
              </a:spcAft>
              <a:buFont typeface="Arial" panose="020B0604020202020204" pitchFamily="34" charset="0"/>
              <a:buChar char="•"/>
            </a:pPr>
            <a:r>
              <a:rPr lang="en-US" sz="1200" dirty="0">
                <a:solidFill>
                  <a:srgbClr val="0F172A"/>
                </a:solidFill>
                <a:latin typeface=""/>
              </a:rPr>
              <a:t>Outer regions show slightly steeper MR decline–could be a sign of saturation.</a:t>
            </a:r>
          </a:p>
          <a:p>
            <a:pPr marL="171450" indent="-171450" algn="l">
              <a:spcBef>
                <a:spcPts val="0"/>
              </a:spcBef>
              <a:spcAft>
                <a:spcPts val="0"/>
              </a:spcAft>
              <a:buFont typeface="Arial" panose="020B0604020202020204" pitchFamily="34" charset="0"/>
              <a:buChar char="•"/>
            </a:pPr>
            <a:endParaRPr lang="en-US" sz="1200" dirty="0">
              <a:solidFill>
                <a:srgbClr val="0F172A"/>
              </a:solidFill>
              <a:latin typeface=""/>
            </a:endParaRPr>
          </a:p>
          <a:p>
            <a:pPr marL="171450" indent="-171450" algn="l">
              <a:spcBef>
                <a:spcPts val="0"/>
              </a:spcBef>
              <a:spcAft>
                <a:spcPts val="0"/>
              </a:spcAft>
              <a:buFont typeface="Arial" panose="020B0604020202020204" pitchFamily="34" charset="0"/>
              <a:buChar char="•"/>
            </a:pPr>
            <a:r>
              <a:rPr lang="en-US" sz="1200" dirty="0">
                <a:solidFill>
                  <a:srgbClr val="0F172A"/>
                </a:solidFill>
                <a:latin typeface=""/>
              </a:rPr>
              <a:t>Whether Indego is growing too fast or too slow depends on </a:t>
            </a:r>
            <a:r>
              <a:rPr lang="en-US" sz="1200" i="1" dirty="0">
                <a:solidFill>
                  <a:srgbClr val="0F172A"/>
                </a:solidFill>
                <a:latin typeface=""/>
              </a:rPr>
              <a:t>where</a:t>
            </a:r>
            <a:r>
              <a:rPr lang="en-US" sz="1200" dirty="0">
                <a:solidFill>
                  <a:srgbClr val="0F172A"/>
                </a:solidFill>
                <a:latin typeface=""/>
              </a:rPr>
              <a:t> Indego is growing. It appears that Center City stations’ MR is still greater than for other regions.</a:t>
            </a:r>
          </a:p>
          <a:p>
            <a:pPr algn="l">
              <a:spcBef>
                <a:spcPts val="0"/>
              </a:spcBef>
              <a:spcAft>
                <a:spcPts val="0"/>
              </a:spcAft>
            </a:pPr>
            <a:endParaRPr lang="en-US" sz="1100" b="0" dirty="0">
              <a:solidFill>
                <a:srgbClr val="0F172A"/>
              </a:solidFill>
              <a:latin typeface=""/>
            </a:endParaRPr>
          </a:p>
        </p:txBody>
      </p:sp>
      <p:sp>
        <p:nvSpPr>
          <p:cNvPr id="52" name="Rectangle 51"/>
          <p:cNvSpPr/>
          <p:nvPr/>
        </p:nvSpPr>
        <p:spPr>
          <a:xfrm>
            <a:off x="7223760" y="4565004"/>
            <a:ext cx="4297680" cy="1835795"/>
          </a:xfrm>
          <a:prstGeom prst="rect">
            <a:avLst/>
          </a:prstGeom>
          <a:ln w="1905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53" name="Rectangle 52"/>
          <p:cNvSpPr/>
          <p:nvPr/>
        </p:nvSpPr>
        <p:spPr>
          <a:xfrm>
            <a:off x="7223760" y="4565004"/>
            <a:ext cx="54864" cy="1835796"/>
          </a:xfrm>
          <a:prstGeom prst="rect">
            <a:avLst/>
          </a:prstGeom>
          <a:solidFill>
            <a:srgbClr val="21C55D"/>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a:p>
        </p:txBody>
      </p:sp>
      <p:sp>
        <p:nvSpPr>
          <p:cNvPr id="54" name="TextBox 53"/>
          <p:cNvSpPr txBox="1"/>
          <p:nvPr/>
        </p:nvSpPr>
        <p:spPr>
          <a:xfrm>
            <a:off x="7452360" y="4641219"/>
            <a:ext cx="3931920" cy="274320"/>
          </a:xfrm>
          <a:prstGeom prst="rect">
            <a:avLst/>
          </a:prstGeom>
          <a:noFill/>
        </p:spPr>
        <p:txBody>
          <a:bodyPr wrap="square"/>
          <a:lstStyle/>
          <a:p>
            <a:pPr algn="l">
              <a:spcBef>
                <a:spcPts val="0"/>
              </a:spcBef>
              <a:spcAft>
                <a:spcPts val="0"/>
              </a:spcAft>
            </a:pPr>
            <a:r>
              <a:rPr sz="1200" b="1" dirty="0">
                <a:solidFill>
                  <a:srgbClr val="22C55E"/>
                </a:solidFill>
                <a:latin typeface=""/>
              </a:rPr>
              <a:t>RECOMMENDATIONS</a:t>
            </a:r>
          </a:p>
        </p:txBody>
      </p:sp>
      <p:sp>
        <p:nvSpPr>
          <p:cNvPr id="55" name="TextBox 54"/>
          <p:cNvSpPr txBox="1"/>
          <p:nvPr/>
        </p:nvSpPr>
        <p:spPr>
          <a:xfrm>
            <a:off x="7543800" y="4953963"/>
            <a:ext cx="3749040" cy="1333775"/>
          </a:xfrm>
          <a:prstGeom prst="rect">
            <a:avLst/>
          </a:prstGeom>
          <a:noFill/>
        </p:spPr>
        <p:txBody>
          <a:bodyPr wrap="square"/>
          <a:lstStyle/>
          <a:p>
            <a:pPr marL="171450" indent="-171450" algn="l">
              <a:spcBef>
                <a:spcPts val="0"/>
              </a:spcBef>
              <a:spcAft>
                <a:spcPts val="0"/>
              </a:spcAft>
              <a:buFont typeface="Arial" panose="020B0604020202020204" pitchFamily="34" charset="0"/>
              <a:buChar char="•"/>
            </a:pPr>
            <a:r>
              <a:rPr lang="en-US" sz="1200" dirty="0">
                <a:solidFill>
                  <a:srgbClr val="0F172A"/>
                </a:solidFill>
                <a:latin typeface=""/>
              </a:rPr>
              <a:t>Prioritize station expansion in Center City, where the marginal return is higher than in other areas of the city</a:t>
            </a:r>
            <a:r>
              <a:rPr lang="en-US" sz="1200" baseline="30000" dirty="0">
                <a:solidFill>
                  <a:srgbClr val="0F172A"/>
                </a:solidFill>
                <a:latin typeface=""/>
              </a:rPr>
              <a:t>2</a:t>
            </a:r>
            <a:endParaRPr lang="en-US" sz="1200" dirty="0">
              <a:solidFill>
                <a:srgbClr val="0F172A"/>
              </a:solidFill>
              <a:latin typeface=""/>
            </a:endParaRPr>
          </a:p>
          <a:p>
            <a:pPr marL="171450" indent="-171450" algn="l">
              <a:spcBef>
                <a:spcPts val="0"/>
              </a:spcBef>
              <a:spcAft>
                <a:spcPts val="0"/>
              </a:spcAft>
              <a:buFont typeface="Arial" panose="020B0604020202020204" pitchFamily="34" charset="0"/>
              <a:buChar char="•"/>
            </a:pPr>
            <a:endParaRPr lang="en-US" sz="1200" dirty="0">
              <a:solidFill>
                <a:srgbClr val="0F172A"/>
              </a:solidFill>
              <a:latin typeface=""/>
            </a:endParaRPr>
          </a:p>
          <a:p>
            <a:pPr marL="171450" indent="-171450" algn="l">
              <a:spcBef>
                <a:spcPts val="0"/>
              </a:spcBef>
              <a:spcAft>
                <a:spcPts val="0"/>
              </a:spcAft>
              <a:buFont typeface="Arial" panose="020B0604020202020204" pitchFamily="34" charset="0"/>
              <a:buChar char="•"/>
            </a:pPr>
            <a:r>
              <a:rPr lang="en-US" sz="1200" dirty="0">
                <a:solidFill>
                  <a:srgbClr val="0F172A"/>
                </a:solidFill>
                <a:latin typeface=""/>
              </a:rPr>
              <a:t>Consider ways to increase average trip duration by promoting leisure and tourism utilization</a:t>
            </a:r>
          </a:p>
          <a:p>
            <a:pPr marL="171450" indent="-171450">
              <a:buFont typeface="Arial" panose="020B0604020202020204" pitchFamily="34" charset="0"/>
              <a:buChar char="•"/>
            </a:pPr>
            <a:endParaRPr lang="en-US" sz="1100" dirty="0">
              <a:solidFill>
                <a:srgbClr val="0F172A"/>
              </a:solidFill>
              <a:latin typeface=""/>
            </a:endParaRPr>
          </a:p>
          <a:p>
            <a:pPr algn="l">
              <a:spcBef>
                <a:spcPts val="0"/>
              </a:spcBef>
              <a:spcAft>
                <a:spcPts val="0"/>
              </a:spcAft>
            </a:pPr>
            <a:endParaRPr sz="1100" b="0" dirty="0">
              <a:solidFill>
                <a:srgbClr val="0F172A"/>
              </a:solidFill>
              <a:latin typeface=""/>
            </a:endParaRPr>
          </a:p>
        </p:txBody>
      </p:sp>
      <p:sp>
        <p:nvSpPr>
          <p:cNvPr id="59" name="Rectangle 58"/>
          <p:cNvSpPr/>
          <p:nvPr/>
        </p:nvSpPr>
        <p:spPr>
          <a:xfrm>
            <a:off x="0" y="6472404"/>
            <a:ext cx="12191695" cy="38559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F3344AF9-25E8-5D86-5CCA-AA20DE6F44A8}"/>
              </a:ext>
            </a:extLst>
          </p:cNvPr>
          <p:cNvSpPr txBox="1"/>
          <p:nvPr/>
        </p:nvSpPr>
        <p:spPr>
          <a:xfrm>
            <a:off x="-28993" y="6506713"/>
            <a:ext cx="9986731" cy="385596"/>
          </a:xfrm>
          <a:prstGeom prst="rect">
            <a:avLst/>
          </a:prstGeom>
          <a:noFill/>
        </p:spPr>
        <p:txBody>
          <a:bodyPr wrap="square"/>
          <a:lstStyle/>
          <a:p>
            <a:pPr algn="l">
              <a:spcBef>
                <a:spcPts val="0"/>
              </a:spcBef>
              <a:spcAft>
                <a:spcPts val="0"/>
              </a:spcAft>
            </a:pPr>
            <a:r>
              <a:rPr lang="en-US" sz="850" b="0" baseline="30000" dirty="0">
                <a:solidFill>
                  <a:srgbClr val="64748B"/>
                </a:solidFill>
                <a:latin typeface=""/>
              </a:rPr>
              <a:t>1</a:t>
            </a:r>
            <a:r>
              <a:rPr lang="en-US" sz="850" dirty="0">
                <a:solidFill>
                  <a:srgbClr val="64748B"/>
                </a:solidFill>
                <a:latin typeface=""/>
              </a:rPr>
              <a:t>Region definitions were created using rough approximations of latitudinal and longitudinal lines.</a:t>
            </a:r>
          </a:p>
          <a:p>
            <a:r>
              <a:rPr lang="en-US" sz="850" baseline="30000" dirty="0">
                <a:solidFill>
                  <a:srgbClr val="64748B"/>
                </a:solidFill>
                <a:latin typeface=""/>
              </a:rPr>
              <a:t>2</a:t>
            </a:r>
            <a:r>
              <a:rPr lang="en-US" sz="850" dirty="0">
                <a:solidFill>
                  <a:srgbClr val="64748B"/>
                </a:solidFill>
                <a:latin typeface=""/>
              </a:rPr>
              <a:t>Possible limitations of this recommendation include that by building new stations in already served areas, this could cannibalize trip hours at nearby stations – we assume this is not the case for simplicity.</a:t>
            </a:r>
            <a:r>
              <a:rPr lang="en-US" sz="1000" dirty="0">
                <a:solidFill>
                  <a:srgbClr val="64748B"/>
                </a:solidFill>
                <a:latin typeface=""/>
              </a:rPr>
              <a:t>  </a:t>
            </a:r>
            <a:endParaRPr sz="1000" b="0" baseline="30000" dirty="0">
              <a:solidFill>
                <a:srgbClr val="64748B"/>
              </a:solidFill>
              <a:latin typeface=""/>
            </a:endParaRPr>
          </a:p>
        </p:txBody>
      </p:sp>
      <p:pic>
        <p:nvPicPr>
          <p:cNvPr id="76" name="Picture 75" descr="A graph of different colored lines&#10;&#10;AI-generated content may be incorrect.">
            <a:extLst>
              <a:ext uri="{FF2B5EF4-FFF2-40B4-BE49-F238E27FC236}">
                <a16:creationId xmlns:a16="http://schemas.microsoft.com/office/drawing/2014/main" id="{CB32DDEE-9368-EE6F-A496-8784635E1BEA}"/>
              </a:ext>
            </a:extLst>
          </p:cNvPr>
          <p:cNvPicPr>
            <a:picLocks noChangeAspect="1"/>
          </p:cNvPicPr>
          <p:nvPr/>
        </p:nvPicPr>
        <p:blipFill>
          <a:blip r:embed="rId2"/>
          <a:stretch>
            <a:fillRect/>
          </a:stretch>
        </p:blipFill>
        <p:spPr>
          <a:xfrm>
            <a:off x="411480" y="1828800"/>
            <a:ext cx="6400800" cy="4572000"/>
          </a:xfrm>
          <a:prstGeom prst="rect">
            <a:avLst/>
          </a:prstGeom>
          <a:ln w="19050">
            <a:solidFill>
              <a:schemeClr val="bg1">
                <a:lumMod val="95000"/>
              </a:schemeClr>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340</Words>
  <Application>Microsoft Macintosh PowerPoint</Application>
  <PresentationFormat>Widescreen</PresentationFormat>
  <Paragraphs>25</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Nicholas Hatala</cp:lastModifiedBy>
  <cp:revision>7</cp:revision>
  <dcterms:created xsi:type="dcterms:W3CDTF">2013-01-27T09:14:16Z</dcterms:created>
  <dcterms:modified xsi:type="dcterms:W3CDTF">2026-02-09T14:26:06Z</dcterms:modified>
  <cp:category/>
</cp:coreProperties>
</file>